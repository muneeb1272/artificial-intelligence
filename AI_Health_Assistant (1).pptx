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9" r:id="rId3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2123"/>
    <a:srgbClr val="091A1D"/>
    <a:srgbClr val="BBE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is our Final Semester AI project presentation — the Multi-Modal AI Health Assistant. The system uses Reinforcement Learning, multi-modal AI, and a 4-tier fallback architecture to provide intelligent medical analysis. Group members: Ali Zain and Muneeb Hamza, under guidance of Sir Faisal Hafeez at University of Layyah.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11.png"/><Relationship Id="rId2" Type="http://schemas.openxmlformats.org/officeDocument/2006/relationships/image" Target="../media/image28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A9396">
              <a:alpha val="18000"/>
            </a:srgbClr>
          </a:solidFill>
          <a:ln w="12700">
            <a:solidFill>
              <a:srgbClr val="0A939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365760"/>
            <a:ext cx="3200400" cy="32004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315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325880"/>
            <a:ext cx="8503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Multi-Modal AI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320040" y="1938528"/>
            <a:ext cx="8503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4B8A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Health Assistant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320040" y="2670048"/>
            <a:ext cx="41148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76148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• Multi-Modal • Reinforcement Learning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3182112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00200" y="318211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Artificial Intelligence</a:t>
            </a:r>
            <a:endParaRPr lang="en-US" sz="1200" b="1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20040" y="352958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00200" y="352958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Sir Faisal Hafeez</a:t>
            </a:r>
            <a:endParaRPr lang="en-US" sz="1200" b="1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20040" y="3877056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00200" y="387705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of Layyah</a:t>
            </a:r>
            <a:endParaRPr lang="en-US" sz="1200" b="1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760720" y="2926080"/>
            <a:ext cx="3017520" cy="1737360"/>
          </a:xfrm>
          <a:prstGeom prst="rect">
            <a:avLst/>
          </a:prstGeom>
          <a:solidFill>
            <a:srgbClr val="BBE5E3"/>
          </a:solidFill>
          <a:ln w="12700">
            <a:solidFill>
              <a:srgbClr val="00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971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Members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33756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60720" y="37490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 Zain</a:t>
            </a:r>
            <a:endParaRPr lang="en-US" sz="13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760720" y="40690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Muneeb Hamza</a:t>
            </a:r>
            <a:endParaRPr lang="en-US" sz="13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457200"/>
            <a:ext cx="3657600" cy="3657600"/>
          </a:xfrm>
          <a:prstGeom prst="ellipse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822960"/>
            <a:ext cx="2743200" cy="2743200"/>
          </a:xfrm>
          <a:prstGeom prst="ellipse">
            <a:avLst/>
          </a:prstGeom>
          <a:solidFill>
            <a:srgbClr val="00D4AA">
              <a:alpha val="4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297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Health Assistant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intelligent, free, offline-capable system that analyzes medical images,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reports, and text queries using a 4-tier hybrid AI engine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reinforcement learning and emergency detection.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2651760" cy="384048"/>
          </a:xfrm>
          <a:prstGeom prst="rect">
            <a:avLst/>
          </a:prstGeom>
          <a:solidFill>
            <a:srgbClr val="0D2B25"/>
          </a:solidFill>
          <a:ln w="6350">
            <a:solidFill>
              <a:srgbClr val="1E2D3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584448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547872"/>
            <a:ext cx="21488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/ Streamlit / FastAPI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3520440"/>
            <a:ext cx="2651760" cy="384048"/>
          </a:xfrm>
          <a:prstGeom prst="rect">
            <a:avLst/>
          </a:prstGeom>
          <a:solidFill>
            <a:srgbClr val="0D2B25"/>
          </a:solidFill>
          <a:ln w="6350">
            <a:solidFill>
              <a:srgbClr val="1E2D3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358444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3547872"/>
            <a:ext cx="21488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/ Gemini / Ollama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3520440"/>
            <a:ext cx="2651760" cy="384048"/>
          </a:xfrm>
          <a:prstGeom prst="rect">
            <a:avLst/>
          </a:prstGeom>
          <a:solidFill>
            <a:srgbClr val="0D2B25"/>
          </a:solidFill>
          <a:ln w="6350">
            <a:solidFill>
              <a:srgbClr val="1E2D3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58444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3547872"/>
            <a:ext cx="21488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Reinforcement Learning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Does This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Matter?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Pakistanis lack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medical access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4173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74520" y="199339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cost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health tools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4173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99339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fail without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08176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92040" y="13716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Paid AI tools like ChatGPT Plus, Gemini Advanced are expensive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801368"/>
            <a:ext cx="4343400" cy="0"/>
          </a:xfrm>
          <a:prstGeom prst="line">
            <a:avLst/>
          </a:prstGeom>
          <a:noFill/>
          <a:ln w="6350">
            <a:solidFill>
              <a:srgbClr val="1E2D3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9280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92040" y="1856232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tools only process text — cannot read X-rays, skin images, blood reports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0" y="2286000"/>
            <a:ext cx="4343400" cy="0"/>
          </a:xfrm>
          <a:prstGeom prst="line">
            <a:avLst/>
          </a:prstGeom>
          <a:noFill/>
          <a:ln w="6350">
            <a:solidFill>
              <a:srgbClr val="1E2D3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37744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92040" y="2340864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urgency detection — critical cases treated same as minor ones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0" y="2770632"/>
            <a:ext cx="4343400" cy="0"/>
          </a:xfrm>
          <a:prstGeom prst="line">
            <a:avLst/>
          </a:prstGeom>
          <a:noFill/>
          <a:ln w="6350">
            <a:solidFill>
              <a:srgbClr val="1E2D3D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86207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92040" y="2825496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emergency alert system to notify doctors or family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0" y="3255264"/>
            <a:ext cx="4343400" cy="0"/>
          </a:xfrm>
          <a:prstGeom prst="line">
            <a:avLst/>
          </a:prstGeom>
          <a:noFill/>
          <a:ln w="6350">
            <a:solidFill>
              <a:srgbClr val="1E2D3D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346704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92040" y="3310128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Completely useless offline — rural areas left behind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572000" y="3739896"/>
            <a:ext cx="4343400" cy="0"/>
          </a:xfrm>
          <a:prstGeom prst="line">
            <a:avLst/>
          </a:prstGeom>
          <a:noFill/>
          <a:ln w="6350">
            <a:solidFill>
              <a:srgbClr val="1E2D3D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831336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892040" y="379476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self-improvement — same accuracy over time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434840" y="1325880"/>
            <a:ext cx="0" cy="3474720"/>
          </a:xfrm>
          <a:prstGeom prst="line">
            <a:avLst/>
          </a:prstGeom>
          <a:noFill/>
          <a:ln w="9525">
            <a:solidFill>
              <a:srgbClr val="1E2D3D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completely free, locally-runnable health assistant powered by a 4-layer fallback AI system that works even without internet.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118872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103120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Input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2377440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Accepts JPG, PNG, WEBP medical images and PDF reports — not just text.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554480"/>
            <a:ext cx="26974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4408" y="1554480"/>
            <a:ext cx="2697480" cy="118872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6916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103120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4-Tier AI Fallback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29000" y="2377440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→ Gemini → Ollama → Knowledge Base. Always gives an answer.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64408" y="1554480"/>
            <a:ext cx="26974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71616" y="1554480"/>
            <a:ext cx="2697480" cy="118872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6916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2103120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Detection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36208" y="2377440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Auto-detects critical urgency and sends email alerts to doctors/family.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071616" y="1554480"/>
            <a:ext cx="269748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2852928"/>
            <a:ext cx="2697480" cy="118872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9008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" y="3401568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Self-Improving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1792" y="3675888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Reinforcement Learning agent learns from user feedback to improve.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2852928"/>
            <a:ext cx="2697480" cy="36576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64408" y="2852928"/>
            <a:ext cx="2697480" cy="118872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2990088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29000" y="3401568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Offline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29000" y="3675888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Ollama + Knowledge Base ensures functionality without internet.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264408" y="2852928"/>
            <a:ext cx="26974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071616" y="2852928"/>
            <a:ext cx="2697480" cy="118872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990088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36208" y="3401568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Free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36208" y="3675888"/>
            <a:ext cx="2368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paid API required. Uses free Groq tier and local processing.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071616" y="2852928"/>
            <a:ext cx="26974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solidFill>
            <a:srgbClr val="111921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548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/ PDF / 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03120" y="1920240"/>
            <a:ext cx="0" cy="27432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07568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3657600" cy="54864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12848"/>
            <a:ext cx="54864" cy="54864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5856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Processing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487168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 · PyMuPDF · NLP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03120" y="2761488"/>
            <a:ext cx="0" cy="27432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916936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3657600" cy="54864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54096"/>
            <a:ext cx="54864" cy="5486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9981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AI Engine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328416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→ Gemini → Ollama → KB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03120" y="3602736"/>
            <a:ext cx="0" cy="27432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75818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95344"/>
            <a:ext cx="3657600" cy="54864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95344"/>
            <a:ext cx="54864" cy="548640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9410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&amp; Actions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169664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 · RL · Email Alert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34840" y="1353312"/>
            <a:ext cx="4480560" cy="54864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53712" y="1444752"/>
            <a:ext cx="347472" cy="347472"/>
          </a:xfrm>
          <a:prstGeom prst="ellipse">
            <a:avLst/>
          </a:prstGeom>
          <a:solidFill>
            <a:srgbClr val="0D2B2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14447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139903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10912" y="1627632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responsive layout, urgency banners, session history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35240" y="1472184"/>
            <a:ext cx="1170432" cy="274320"/>
          </a:xfrm>
          <a:prstGeom prst="rect">
            <a:avLst/>
          </a:prstGeom>
          <a:solidFill>
            <a:srgbClr val="0D2B2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147218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34840" y="2020824"/>
            <a:ext cx="4480560" cy="54864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53712" y="2112264"/>
            <a:ext cx="347472" cy="347472"/>
          </a:xfrm>
          <a:prstGeom prst="ellipse">
            <a:avLst/>
          </a:prstGeom>
          <a:solidFill>
            <a:srgbClr val="0D2B2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21122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10912" y="206654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Backend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10912" y="2295144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server with multi-part file upload, REST endpoints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35240" y="2139696"/>
            <a:ext cx="1170432" cy="274320"/>
          </a:xfrm>
          <a:prstGeom prst="rect">
            <a:avLst/>
          </a:prstGeom>
          <a:solidFill>
            <a:srgbClr val="0D2B2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2139696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434840" y="2688336"/>
            <a:ext cx="4480560" cy="54864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53712" y="2779776"/>
            <a:ext cx="347472" cy="347472"/>
          </a:xfrm>
          <a:prstGeom prst="ellipse">
            <a:avLst/>
          </a:prstGeom>
          <a:solidFill>
            <a:srgbClr val="0D2B25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53712" y="27797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10912" y="273405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Processing Core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10912" y="2962656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Multi-modal: image+text, PDF extraction, text-only modes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35240" y="2807208"/>
            <a:ext cx="1170432" cy="274320"/>
          </a:xfrm>
          <a:prstGeom prst="rect">
            <a:avLst/>
          </a:prstGeom>
          <a:solidFill>
            <a:srgbClr val="0D2B25"/>
          </a:solidFill>
          <a:ln w="6350">
            <a:solidFill>
              <a:srgbClr val="FF8C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280720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/ Gemini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434840" y="3355848"/>
            <a:ext cx="4480560" cy="54864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53712" y="3447288"/>
            <a:ext cx="347472" cy="347472"/>
          </a:xfrm>
          <a:prstGeom prst="ellipse">
            <a:avLst/>
          </a:prstGeom>
          <a:solidFill>
            <a:srgbClr val="0D2B25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53712" y="34472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D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10912" y="340156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Intelligence Layer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10912" y="363016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 Q-table agent, urgency detection, emergency email alerts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35240" y="3474720"/>
            <a:ext cx="1170432" cy="274320"/>
          </a:xfrm>
          <a:prstGeom prst="rect">
            <a:avLst/>
          </a:prstGeom>
          <a:solidFill>
            <a:srgbClr val="0D2B25"/>
          </a:solidFill>
          <a:ln w="6350">
            <a:solidFill>
              <a:srgbClr val="2ED5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35240" y="3474720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D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 Model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434840" y="4023360"/>
            <a:ext cx="4480560" cy="54864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53712" y="4114800"/>
            <a:ext cx="347472" cy="347472"/>
          </a:xfrm>
          <a:prstGeom prst="ellipse">
            <a:avLst/>
          </a:prstGeom>
          <a:solidFill>
            <a:srgbClr val="0D2B25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53712" y="4114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D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10912" y="406908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10912" y="42976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Medical knowledge base JSON, Q-table persistence, temp storage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635240" y="4142232"/>
            <a:ext cx="1170432" cy="274320"/>
          </a:xfrm>
          <a:prstGeom prst="rect">
            <a:avLst/>
          </a:prstGeom>
          <a:solidFill>
            <a:srgbClr val="0D2B25"/>
          </a:solidFill>
          <a:ln w="6350">
            <a:solidFill>
              <a:srgbClr val="2ED57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35240" y="414223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D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315968" y="1325880"/>
            <a:ext cx="0" cy="3657600"/>
          </a:xfrm>
          <a:prstGeom prst="line">
            <a:avLst/>
          </a:prstGeom>
          <a:noFill/>
          <a:ln w="9525">
            <a:solidFill>
              <a:srgbClr val="1E2D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doesn't just read text — it can see images and extract data from PDF reports, making it a true multi-modal health assistant.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96012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36192"/>
            <a:ext cx="41148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627632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Analysis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194767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JPG, JPEG, PNG, WEBP. Uses Groq's Llama-4-Scout vision model for analyzing X-rays, skin conditions, blood report photos, and rashes. Images are auto-resized if needed.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633472"/>
            <a:ext cx="4114800" cy="96012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633472"/>
            <a:ext cx="411480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4320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724912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Report Extraction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4360" y="304495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PyMuPDF to extract text from medical PDFs. Also extracts the first embedded image (if any). Combined text+image is sent for full analysis.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3730752"/>
            <a:ext cx="4114800" cy="96012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730752"/>
            <a:ext cx="4114800" cy="36576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822192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Text-Only Queries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94360" y="414223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can describe symptoms in plain language. The system handles laymen terms like phlegm, mucus, congestion — not just medical jargon.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846320" y="1463040"/>
            <a:ext cx="4023360" cy="566928"/>
          </a:xfrm>
          <a:prstGeom prst="rect">
            <a:avLst/>
          </a:prstGeom>
          <a:solidFill>
            <a:srgbClr val="111921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983480" y="15087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Uploaded File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983480" y="1764792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file_uploader() in Streamlit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629400" y="208483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846320" y="2267712"/>
            <a:ext cx="4023360" cy="56692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983480" y="2313432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Routing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983480" y="256946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.jpg/.png → PIL  |  .pdf → PyMuPDF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629400" y="2889504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846320" y="3072384"/>
            <a:ext cx="4023360" cy="56692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983480" y="3118104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&amp; Resize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983480" y="337413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load_and_validate_image() + resize check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629400" y="369417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846320" y="3877056"/>
            <a:ext cx="4023360" cy="566928"/>
          </a:xfrm>
          <a:prstGeom prst="rect">
            <a:avLst/>
          </a:prstGeom>
          <a:solidFill>
            <a:srgbClr val="111921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983480" y="392277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4983480" y="4178808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analyze_image_with_text() or analyze_text_only()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709160" y="1325880"/>
            <a:ext cx="0" cy="3657600"/>
          </a:xfrm>
          <a:prstGeom prst="line">
            <a:avLst/>
          </a:prstGeom>
          <a:noFill/>
          <a:ln w="9525">
            <a:solidFill>
              <a:srgbClr val="1E2D3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4-Tier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Fallback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never fails. It tries 4 AI sources in order, ensuring the user always gets a medical analysis — online or offline.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412480" cy="658368"/>
          </a:xfrm>
          <a:prstGeom prst="rect">
            <a:avLst/>
          </a:prstGeom>
          <a:solidFill>
            <a:srgbClr val="0D2B25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347472" cy="347472"/>
          </a:xfrm>
          <a:prstGeom prst="ellipse">
            <a:avLst/>
          </a:prstGeom>
          <a:solidFill>
            <a:srgbClr val="111921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158191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AI (Primary)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84708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meta-llama/llama-4-scout-17b — Free, ultra-fast API. Handles both text and vision (image) analysis.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709928"/>
            <a:ext cx="777240" cy="256032"/>
          </a:xfrm>
          <a:prstGeom prst="rect">
            <a:avLst/>
          </a:prstGeom>
          <a:solidFill>
            <a:srgbClr val="111921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70992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132320" y="1709928"/>
            <a:ext cx="777240" cy="256032"/>
          </a:xfrm>
          <a:prstGeom prst="rect">
            <a:avLst/>
          </a:prstGeom>
          <a:solidFill>
            <a:srgbClr val="111921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70992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01000" y="1709928"/>
            <a:ext cx="777240" cy="256032"/>
          </a:xfrm>
          <a:prstGeom prst="rect">
            <a:avLst/>
          </a:prstGeom>
          <a:solidFill>
            <a:srgbClr val="111921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170992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304288"/>
            <a:ext cx="8412480" cy="65836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459736"/>
            <a:ext cx="347472" cy="347472"/>
          </a:xfrm>
          <a:prstGeom prst="ellipse">
            <a:avLst/>
          </a:prstGeom>
          <a:solidFill>
            <a:srgbClr val="111921"/>
          </a:solidFill>
          <a:ln w="1524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4597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" y="23774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AI (Secondary)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264261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 API as backup when Groq is unavailable. Supports multi-modal analysis.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2505456"/>
            <a:ext cx="777240" cy="256032"/>
          </a:xfrm>
          <a:prstGeom prst="rect">
            <a:avLst/>
          </a:prstGeom>
          <a:solidFill>
            <a:srgbClr val="111921"/>
          </a:solidFill>
          <a:ln w="762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50545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32320" y="2505456"/>
            <a:ext cx="777240" cy="256032"/>
          </a:xfrm>
          <a:prstGeom prst="rect">
            <a:avLst/>
          </a:prstGeom>
          <a:solidFill>
            <a:srgbClr val="111921"/>
          </a:solidFill>
          <a:ln w="762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50545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099816"/>
            <a:ext cx="8412480" cy="65836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255264"/>
            <a:ext cx="347472" cy="347472"/>
          </a:xfrm>
          <a:prstGeom prst="ellipse">
            <a:avLst/>
          </a:prstGeom>
          <a:solidFill>
            <a:srgbClr val="111921"/>
          </a:solidFill>
          <a:ln w="15240">
            <a:solidFill>
              <a:srgbClr val="2ED5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2552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D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" y="317296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(Offline Primary)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3438144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LLM via Ollama (if installed). Runs completely offline with decent analysis quality.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3300984"/>
            <a:ext cx="777240" cy="256032"/>
          </a:xfrm>
          <a:prstGeom prst="rect">
            <a:avLst/>
          </a:prstGeom>
          <a:solidFill>
            <a:srgbClr val="111921"/>
          </a:solidFill>
          <a:ln w="7620">
            <a:solidFill>
              <a:srgbClr val="2ED5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30098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D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32320" y="3300984"/>
            <a:ext cx="777240" cy="256032"/>
          </a:xfrm>
          <a:prstGeom prst="rect">
            <a:avLst/>
          </a:prstGeom>
          <a:solidFill>
            <a:srgbClr val="111921"/>
          </a:solidFill>
          <a:ln w="7620">
            <a:solidFill>
              <a:srgbClr val="2ED5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30098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D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895344"/>
            <a:ext cx="8412480" cy="65836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4050792"/>
            <a:ext cx="347472" cy="347472"/>
          </a:xfrm>
          <a:prstGeom prst="ellipse">
            <a:avLst/>
          </a:prstGeom>
          <a:solidFill>
            <a:srgbClr val="111921"/>
          </a:solidFill>
          <a:ln w="15240">
            <a:solidFill>
              <a:srgbClr val="FF4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0507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7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8992" y="396849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Base (Final Fallback)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78992" y="423367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Expert system using medical_kb.json with regex-based symptom matching. Disease-specific structured responses.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4096512"/>
            <a:ext cx="777240" cy="256032"/>
          </a:xfrm>
          <a:prstGeom prst="rect">
            <a:avLst/>
          </a:prstGeom>
          <a:solidFill>
            <a:srgbClr val="111921"/>
          </a:solidFill>
          <a:ln w="7620">
            <a:solidFill>
              <a:srgbClr val="FF47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409651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47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32320" y="4096512"/>
            <a:ext cx="777240" cy="256032"/>
          </a:xfrm>
          <a:prstGeom prst="rect">
            <a:avLst/>
          </a:prstGeom>
          <a:solidFill>
            <a:srgbClr val="111921"/>
          </a:solidFill>
          <a:ln w="7620">
            <a:solidFill>
              <a:srgbClr val="FF47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409651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47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AI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Reinforcement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Agent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987552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4114800" cy="36576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270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08760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Collection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837944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each analysis, users give thumbs up/down. Each interaction logs feedback in q_table.json with a unique diagnosis_id.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532888"/>
            <a:ext cx="4114800" cy="987552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532888"/>
            <a:ext cx="41148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4261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624328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Q-Table Strategy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4360" y="295351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Strategies: ollama_detailed, keyword_basic, combined_approach, groq_vision, gemini_fallback. Agent updates Q-values per query type.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" y="3648456"/>
            <a:ext cx="4114800" cy="987552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648456"/>
            <a:ext cx="411480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5818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739896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Adaptive Improvement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94360" y="40690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more feedback received, the smarter routing becomes. System learns which AI source is most reliable for specific categories.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846320" y="1417320"/>
            <a:ext cx="4023360" cy="3401568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983480" y="150876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Q-Learning Update Formula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983480" y="1874520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983480" y="212140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update_rl_model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983480" y="236829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(diagnosis_id, positive, query):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983480" y="2615184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state = extract_state(query)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983480" y="2862072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strategy = get_best_strategy(state)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983480" y="3108960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Reward: +1.0 positive / -0.5 negative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983480" y="335584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reward = 1.0 if positive else -0.5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983480" y="360273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Q-value update equation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983480" y="3849624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new_q = old_q + α*(reward + γ*max(Q) - old_q)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983480" y="4096512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Track stats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983480" y="4343400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data["total_feedback"] += 1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983480" y="459028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save_rl_data(data)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846320" y="4864608"/>
            <a:ext cx="1261872" cy="228600"/>
          </a:xfrm>
          <a:prstGeom prst="rect">
            <a:avLst/>
          </a:prstGeom>
          <a:solidFill>
            <a:srgbClr val="0D2B2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46320" y="4864608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Q-Learning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6217920" y="4864608"/>
            <a:ext cx="1261872" cy="228600"/>
          </a:xfrm>
          <a:prstGeom prst="rect">
            <a:avLst/>
          </a:prstGeom>
          <a:solidFill>
            <a:srgbClr val="0D2B2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217920" y="4864608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Adaptive Strategy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7589520" y="4864608"/>
            <a:ext cx="1261872" cy="228600"/>
          </a:xfrm>
          <a:prstGeom prst="rect">
            <a:avLst/>
          </a:prstGeom>
          <a:solidFill>
            <a:srgbClr val="0D2B2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589520" y="4864608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Persistent Memory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4709160" y="1325880"/>
            <a:ext cx="0" cy="3749040"/>
          </a:xfrm>
          <a:prstGeom prst="line">
            <a:avLst/>
          </a:prstGeom>
          <a:noFill/>
          <a:ln w="9525">
            <a:solidFill>
              <a:srgbClr val="1E2D3D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&amp; Alerts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every AI analysis, the system automatically detects the urgency level and triggers appropriate actions.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658368"/>
          </a:xfrm>
          <a:prstGeom prst="rect">
            <a:avLst/>
          </a:prstGeom>
          <a:solidFill>
            <a:srgbClr val="1A2B1E"/>
          </a:solidFill>
          <a:ln w="9525">
            <a:solidFill>
              <a:srgbClr val="2ED57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642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58191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83794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Minor condition. Standard report displayed. No alert sent.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304288"/>
            <a:ext cx="4114800" cy="658368"/>
          </a:xfrm>
          <a:prstGeom prst="rect">
            <a:avLst/>
          </a:prstGeom>
          <a:solidFill>
            <a:srgbClr val="0D2B25"/>
          </a:solidFill>
          <a:ln w="9525">
            <a:solidFill>
              <a:srgbClr val="00D4A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597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377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51560" y="263347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Consultation recommended. Info banner shown to user.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3099816"/>
            <a:ext cx="4114800" cy="658368"/>
          </a:xfrm>
          <a:prstGeom prst="rect">
            <a:avLst/>
          </a:prstGeom>
          <a:solidFill>
            <a:srgbClr val="2B1E0D"/>
          </a:solidFill>
          <a:ln w="9525">
            <a:solidFill>
              <a:srgbClr val="FF8C4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5526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1729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51560" y="342900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Urgent medical attention needed. Warning banner + email sent.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57200" y="3895344"/>
            <a:ext cx="4114800" cy="658368"/>
          </a:xfrm>
          <a:prstGeom prst="rect">
            <a:avLst/>
          </a:prstGeom>
          <a:solidFill>
            <a:srgbClr val="2B0D10"/>
          </a:solidFill>
          <a:ln w="9525">
            <a:solidFill>
              <a:srgbClr val="FF4757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5079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96849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051560" y="422452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Life-threatening. Immediate alert, email with image to emergency contact. Call 1122.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846320" y="1508760"/>
            <a:ext cx="4023360" cy="1645920"/>
          </a:xfrm>
          <a:prstGeom prst="rect">
            <a:avLst/>
          </a:prstGeom>
          <a:solidFill>
            <a:srgbClr val="2B0D10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6276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76672" y="160020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Alert System</a:t>
            </a:r>
            <a:endParaRPr lang="en-US" sz="13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011680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57800" y="2002536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name and urgency level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276856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57800" y="226771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AI analysis text</a:t>
            </a:r>
            <a:endParaRPr lang="en-US" sz="10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542032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257800" y="253288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Attached medical image (if uploaded)</a:t>
            </a:r>
            <a:endParaRPr lang="en-US" sz="10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807208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257800" y="279806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 of detection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4846320" y="3291840"/>
            <a:ext cx="4023360" cy="1627632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4983480" y="3364992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5" name="Text 24"/>
          <p:cNvSpPr/>
          <p:nvPr/>
        </p:nvSpPr>
        <p:spPr>
          <a:xfrm>
            <a:off x="4983480" y="3675888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detect_urgency_level(analysis_text)</a:t>
            </a:r>
            <a:endParaRPr lang="en-US" sz="850" dirty="0"/>
          </a:p>
        </p:txBody>
      </p:sp>
      <p:sp>
        <p:nvSpPr>
          <p:cNvPr id="36" name="Text 25"/>
          <p:cNvSpPr/>
          <p:nvPr/>
        </p:nvSpPr>
        <p:spPr>
          <a:xfrm>
            <a:off x="4983480" y="3826764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scans for critical keywords</a:t>
            </a:r>
            <a:endParaRPr lang="en-US" sz="850" dirty="0"/>
          </a:p>
        </p:txBody>
      </p:sp>
      <p:sp>
        <p:nvSpPr>
          <p:cNvPr id="37" name="Text 26"/>
          <p:cNvSpPr/>
          <p:nvPr/>
        </p:nvSpPr>
        <p:spPr>
          <a:xfrm>
            <a:off x="4983480" y="3977640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returns: LOW | MODERATE | HIGH | CRITICAL</a:t>
            </a:r>
            <a:endParaRPr lang="en-US" sz="850" dirty="0"/>
          </a:p>
        </p:txBody>
      </p:sp>
      <p:sp>
        <p:nvSpPr>
          <p:cNvPr id="38" name="Text 27"/>
          <p:cNvSpPr/>
          <p:nvPr/>
        </p:nvSpPr>
        <p:spPr>
          <a:xfrm>
            <a:off x="4983480" y="4128516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Text 28"/>
          <p:cNvSpPr/>
          <p:nvPr/>
        </p:nvSpPr>
        <p:spPr>
          <a:xfrm>
            <a:off x="4983480" y="4279392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handle_emergency(urgency, patient, email)</a:t>
            </a:r>
            <a:endParaRPr lang="en-US" sz="850" dirty="0"/>
          </a:p>
        </p:txBody>
      </p:sp>
      <p:sp>
        <p:nvSpPr>
          <p:cNvPr id="40" name="Text 29"/>
          <p:cNvSpPr/>
          <p:nvPr/>
        </p:nvSpPr>
        <p:spPr>
          <a:xfrm>
            <a:off x="4983480" y="4430268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if CRITICAL or HIGH:</a:t>
            </a:r>
            <a:endParaRPr lang="en-US" sz="850" dirty="0"/>
          </a:p>
        </p:txBody>
      </p:sp>
      <p:sp>
        <p:nvSpPr>
          <p:cNvPr id="41" name="Text 30"/>
          <p:cNvSpPr/>
          <p:nvPr/>
        </p:nvSpPr>
        <p:spPr>
          <a:xfrm>
            <a:off x="4983480" y="4581144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→ compose + send SMTP email</a:t>
            </a:r>
            <a:endParaRPr lang="en-US" sz="850" dirty="0"/>
          </a:p>
        </p:txBody>
      </p:sp>
      <p:sp>
        <p:nvSpPr>
          <p:cNvPr id="42" name="Text 31"/>
          <p:cNvSpPr/>
          <p:nvPr/>
        </p:nvSpPr>
        <p:spPr>
          <a:xfrm>
            <a:off x="4983480" y="4732020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→ attach image if exists</a:t>
            </a:r>
            <a:endParaRPr lang="en-US" sz="850" dirty="0"/>
          </a:p>
        </p:txBody>
      </p:sp>
      <p:sp>
        <p:nvSpPr>
          <p:cNvPr id="43" name="Shape 32"/>
          <p:cNvSpPr/>
          <p:nvPr/>
        </p:nvSpPr>
        <p:spPr>
          <a:xfrm>
            <a:off x="4709160" y="1325880"/>
            <a:ext cx="0" cy="3749040"/>
          </a:xfrm>
          <a:prstGeom prst="line">
            <a:avLst/>
          </a:prstGeom>
          <a:noFill/>
          <a:ln w="9525">
            <a:solidFill>
              <a:srgbClr val="1E2D3D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Medical Knowledge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987552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41148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270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08760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Disease 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837944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disease entry contains: symptoms (with laymen terms), causes, prevention measures, treatment options, and severity level.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532888"/>
            <a:ext cx="4114800" cy="987552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532888"/>
            <a:ext cx="411480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4261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624328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Regex + Keyword Matching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4360" y="295351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report_analyzer.py uses regex patterns to extract values (blood pressure, sugar levels) and matches symptom keywords against the KB.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" y="3648456"/>
            <a:ext cx="4114800" cy="987552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648456"/>
            <a:ext cx="4114800" cy="36576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5818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739896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Offline Chat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94360" y="40690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generic 'I'm offline' messages, chat_handler.py provides disease-specific responses with full details from the knowledge base.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846320" y="1417320"/>
            <a:ext cx="4023360" cy="3401568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983480" y="15087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medical_kb.json — Structure Preview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983480" y="1874520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983480" y="2071116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"Pneumonia": {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983480" y="2267712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"symptoms": [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983480" y="2464308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"cough", "phlegm", "mucus",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4983480" y="2660904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"chest pain", "fever",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4983480" y="2857500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"shortness of breath", "lungs"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983480" y="3054096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],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4983480" y="3250692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"causes": "Bacterial or viral infection...",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4983480" y="3447288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"prevention": "Vaccination, hygiene...",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4983480" y="3643884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"treatment": "Antibiotics, rest...",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4983480" y="3840480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"severity": "high"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4983480" y="4037076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},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4983480" y="4233672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F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"Asthma": { ... },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4983480" y="4430268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F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"Diabetes": { ... }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4983480" y="4626864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4846320" y="4864608"/>
            <a:ext cx="1874520" cy="228600"/>
          </a:xfrm>
          <a:prstGeom prst="rect">
            <a:avLst/>
          </a:prstGeom>
          <a:solidFill>
            <a:srgbClr val="0D2B25"/>
          </a:solidFill>
          <a:ln w="6350">
            <a:solidFill>
              <a:srgbClr val="2ED57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846320" y="4864608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D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laymen terms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6949440" y="4864608"/>
            <a:ext cx="1874520" cy="228600"/>
          </a:xfrm>
          <a:prstGeom prst="rect">
            <a:avLst/>
          </a:prstGeom>
          <a:solidFill>
            <a:srgbClr val="0D2B2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949440" y="4864608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Disease-specific output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4709160" y="1325880"/>
            <a:ext cx="0" cy="3749040"/>
          </a:xfrm>
          <a:prstGeom prst="line">
            <a:avLst/>
          </a:prstGeom>
          <a:noFill/>
          <a:ln w="9525">
            <a:solidFill>
              <a:srgbClr val="1E2D3D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DETAILS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 &amp;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Structure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82296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6304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71907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06040" y="1371600"/>
            <a:ext cx="2011680" cy="82296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8132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8960" y="146304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108960" y="171907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UI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2377440"/>
            <a:ext cx="2011680" cy="82296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8716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4688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272491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API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606040" y="2377440"/>
            <a:ext cx="2011680" cy="82296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48716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108960" y="24688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Pillow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108960" y="272491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processing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57200" y="3383280"/>
            <a:ext cx="2011680" cy="82296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9300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34747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PyMuPDF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60120" y="37307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extraction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2606040" y="3383280"/>
            <a:ext cx="2011680" cy="82296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49300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108960" y="34747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/ Gemini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3108960" y="37307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APIs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457200" y="114300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4846320" y="1143000"/>
            <a:ext cx="4023360" cy="3858768"/>
          </a:xfrm>
          <a:prstGeom prst="rect">
            <a:avLst/>
          </a:prstGeom>
          <a:solidFill>
            <a:srgbClr val="0D1117"/>
          </a:solidFill>
          <a:ln w="9525">
            <a:solidFill>
              <a:srgbClr val="1E2D3D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983480" y="123444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4983480" y="1572768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project/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4983480" y="1783080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app.py          # Streamlit app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4983480" y="1993392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backend/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4983480" y="2203704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main.py     # FastAPI server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4983480" y="2414016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ollama_engine.py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4983480" y="2624328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report_analyzer.py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4983480" y="2834640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chat_handler.py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4983480" y="3044952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rl_model.py # RL Q-table</a:t>
            </a: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4983480" y="3255264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core/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4983480" y="3465576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gemini_engine.py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4983480" y="3675888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emergency_handler.py</a:t>
            </a: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4983480" y="3886200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FA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report_processor.py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4983480" y="4096512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data/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4983480" y="4306824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medical_kb.json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4983480" y="4517136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q_table.json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4983480" y="4727448"/>
            <a:ext cx="3749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F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└── .env            # API keys</a:t>
            </a:r>
            <a:endParaRPr lang="en-US" sz="850" dirty="0"/>
          </a:p>
        </p:txBody>
      </p:sp>
      <p:sp>
        <p:nvSpPr>
          <p:cNvPr id="48" name="Shape 40"/>
          <p:cNvSpPr/>
          <p:nvPr/>
        </p:nvSpPr>
        <p:spPr>
          <a:xfrm>
            <a:off x="4709160" y="1097280"/>
            <a:ext cx="0" cy="3931920"/>
          </a:xfrm>
          <a:prstGeom prst="line">
            <a:avLst/>
          </a:prstGeom>
          <a:noFill/>
          <a:ln w="9525">
            <a:solidFill>
              <a:srgbClr val="1E2D3D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 Glance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102412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0116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270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202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Analysis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X-rays, skin conditions, blood reports via AI vision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417320"/>
            <a:ext cx="2011680" cy="102412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417320"/>
            <a:ext cx="201168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2704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19202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Parsing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51760" y="21488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text and images from medical PDF reports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63440" y="1417320"/>
            <a:ext cx="2011680" cy="102412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417320"/>
            <a:ext cx="2011680" cy="36576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2704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19202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Mode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54880" y="21488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+ KB ensures zero internet dependency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766560" y="1417320"/>
            <a:ext cx="2011680" cy="102412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1417320"/>
            <a:ext cx="2011680" cy="3657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52704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19202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Alerts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58000" y="21488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email with image to doctor/family on critical detection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57200" y="2532888"/>
            <a:ext cx="2011680" cy="102412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" y="2532888"/>
            <a:ext cx="20116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2642616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" y="3035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 Self-Learning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32644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Q-table agent improves strategy selection over time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2560320" y="2532888"/>
            <a:ext cx="2011680" cy="102412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560320" y="2532888"/>
            <a:ext cx="201168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642616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651760" y="3035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Laymen Language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651760" y="32644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Understands phlegm, mucus — not just medical terms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4663440" y="2532888"/>
            <a:ext cx="2011680" cy="102412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663440" y="2532888"/>
            <a:ext cx="2011680" cy="36576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2642616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754880" y="3035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History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754880" y="32644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all analyses with patient name, urgency, time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6766560" y="2532888"/>
            <a:ext cx="2011680" cy="1024128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766560" y="2532888"/>
            <a:ext cx="2011680" cy="3657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2642616"/>
            <a:ext cx="347472" cy="34747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58000" y="3035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Free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58000" y="32644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paid API, no subscription. Runs on any machine</a:t>
            </a:r>
            <a:endParaRPr lang="en-US" sz="850" dirty="0"/>
          </a:p>
        </p:txBody>
      </p:sp>
      <p:sp>
        <p:nvSpPr>
          <p:cNvPr id="45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560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</a:t>
            </a:r>
            <a:r>
              <a:rPr lang="en-US" sz="34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30352" y="1508760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709928"/>
            <a:ext cx="0" cy="594360"/>
          </a:xfrm>
          <a:prstGeom prst="line">
            <a:avLst/>
          </a:prstGeom>
          <a:noFill/>
          <a:ln w="12700">
            <a:solidFill>
              <a:srgbClr val="1E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6304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Expanded Knowledge 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719072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500+ more diseases with detailed symptom mappings, regional disease patterns common in South Asia.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73752" y="1508760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74336" y="1709928"/>
            <a:ext cx="0" cy="594360"/>
          </a:xfrm>
          <a:prstGeom prst="line">
            <a:avLst/>
          </a:prstGeom>
          <a:noFill/>
          <a:ln w="12700">
            <a:solidFill>
              <a:srgbClr val="1E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146304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Deployment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84648" y="1719072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One-click Docker container with Ollama pre-installed. Deploy anywhere — hospitals, clinics, rural centers.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377440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" y="2578608"/>
            <a:ext cx="0" cy="594360"/>
          </a:xfrm>
          <a:prstGeom prst="line">
            <a:avLst/>
          </a:prstGeom>
          <a:noFill/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33172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RL (DQN)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2587752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Transition from Q-table to Deep Q-Network for better strategy selection with neural network approximation.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73752" y="2377440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74336" y="2578608"/>
            <a:ext cx="0" cy="594360"/>
          </a:xfrm>
          <a:prstGeom prst="line">
            <a:avLst/>
          </a:prstGeom>
          <a:noFill/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4648" y="233172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 (Flutter)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84648" y="2587752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cross-platform mobile app connecting to the FastAPI backend for on-the-go health analysis.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" y="3246120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" y="3447288"/>
            <a:ext cx="0" cy="594360"/>
          </a:xfrm>
          <a:prstGeom prst="line">
            <a:avLst/>
          </a:prstGeom>
          <a:noFill/>
          <a:ln w="12700">
            <a:solidFill>
              <a:srgbClr val="1E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20040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456432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Urdu, Punjabi, Sindhi language support for symptom input so non-English speakers can benefit.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73752" y="3246120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74336" y="3447288"/>
            <a:ext cx="0" cy="594360"/>
          </a:xfrm>
          <a:prstGeom prst="line">
            <a:avLst/>
          </a:prstGeom>
          <a:noFill/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20040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 Portal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84648" y="3456432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doctor dashboard where emergency alerts are managed, patient history viewed, and follow-ups scheduled.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0352" y="4114800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06908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HIPAA Compliance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325112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end-to-end encryption for patient data, role-based access control, and audit logging for compliance.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73752" y="4114800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406908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Wearable Device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84648" y="4325112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with smartwatches for real-time heart rate, SpO2, blood pressure data streaming into the analysis engine.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325880"/>
            <a:ext cx="0" cy="3749040"/>
          </a:xfrm>
          <a:prstGeom prst="line">
            <a:avLst/>
          </a:prstGeom>
          <a:noFill/>
          <a:ln w="9525">
            <a:solidFill>
              <a:srgbClr val="1E2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457200"/>
            <a:ext cx="3657600" cy="3657600"/>
          </a:xfrm>
          <a:prstGeom prst="ellipse">
            <a:avLst/>
          </a:prstGeom>
          <a:solidFill>
            <a:srgbClr val="00D4AA">
              <a:alpha val="5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2743200"/>
            <a:ext cx="4572000" cy="4572000"/>
          </a:xfrm>
          <a:prstGeom prst="ellipse">
            <a:avLst/>
          </a:prstGeom>
          <a:solidFill>
            <a:srgbClr val="FF8C42">
              <a:alpha val="4000"/>
            </a:srgbClr>
          </a:solidFill>
          <a:ln w="12700">
            <a:solidFill>
              <a:srgbClr val="FF8C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 OF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00D4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AI Health Assistant — Free, Intelligent, Life-Saving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2670048"/>
            <a:ext cx="4023360" cy="320040"/>
          </a:xfrm>
          <a:prstGeom prst="rect">
            <a:avLst/>
          </a:prstGeom>
          <a:solidFill>
            <a:srgbClr val="2B0D10"/>
          </a:solidFill>
          <a:ln w="9525">
            <a:solidFill>
              <a:srgbClr val="FF475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71576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0" y="2679192"/>
            <a:ext cx="3429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47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a prototype — Always consult a qualified doctor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3273552"/>
            <a:ext cx="2468880" cy="36576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35584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291840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/ Streamlit / FastAPI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83280" y="3273552"/>
            <a:ext cx="2468880" cy="36576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35584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94760" y="3291840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/ Gemini / Ollama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35040" y="3273552"/>
            <a:ext cx="2468880" cy="365760"/>
          </a:xfrm>
          <a:prstGeom prst="rect">
            <a:avLst/>
          </a:prstGeom>
          <a:solidFill>
            <a:srgbClr val="111921"/>
          </a:solidFill>
          <a:ln w="9525">
            <a:solidFill>
              <a:srgbClr val="1E2D3D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5584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520" y="3291840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Emergency: 1122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914400" y="39319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3886200" y="4507992"/>
            <a:ext cx="1371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E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8854</Words>
  <Application>WPS Presentation</Application>
  <PresentationFormat>On-screen Show (16:9)</PresentationFormat>
  <Paragraphs>579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Trebuchet MS</vt:lpstr>
      <vt:lpstr>Trebuchet MS</vt:lpstr>
      <vt:lpstr>Trebuchet MS</vt:lpstr>
      <vt:lpstr>Calibri Light</vt:lpstr>
      <vt:lpstr>Inter Bold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Multi-Modal AI Health Assistant</dc:title>
  <dc:creator>Final Year Project</dc:creator>
  <dc:subject>PptxGenJS Presentation</dc:subject>
  <cp:lastModifiedBy>Muneeb Hamza</cp:lastModifiedBy>
  <cp:revision>2</cp:revision>
  <dcterms:created xsi:type="dcterms:W3CDTF">2026-05-12T08:36:00Z</dcterms:created>
  <dcterms:modified xsi:type="dcterms:W3CDTF">2026-05-12T16:56:06Z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7F99F356B1DB40AD829B71F077A06FBD_12</vt:lpwstr>
  </property>
</Properties>
</file>